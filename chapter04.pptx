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459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Chapter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Chapter 4: Interpersonal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My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0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编码与译码：人际传播的信息机制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认知结构因素：完形心理学四原则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14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理解的主观性：心理预设、文化背景与态度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63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人际传播的本质：符号互动与经验范围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11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人际影响理论：两级传播与创新扩散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第一节：编码与译码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编码（encode）：将信息转化为可传输符号的主观过程；译码（decode）：将信号还原为意义的接收端认知活动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施拉姆模式对香农信息论的挪用，凸显其在传播学中的基础地位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编码与译码非机械对应——信息在传递中必然变形，‘装车/卸车’比喻失准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1-3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icrosoft YaHei"/>
              </a:defRPr>
            </a:pPr>
            <a:r>
              <a:t>符号互动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人际传播的核心特征，指通过语言、姿态等符号系统进行的动态意义共建过程，表现为持续交替的编码与译码循环。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93B"/>
                </a:solidFill>
                <a:latin typeface="Microsoft YaHei"/>
              </a:defRPr>
            </a:pPr>
            <a:r>
              <a:t>"信息一旦经过编码便同原来的情形不完全相同……运来一件集装箱，卸下车后可能成为两件，原来装运的钢材甚至可能成为大米、棉花等。"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— 《传播学引论》（第四版）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说明编码与译码的创造性与失真本质，否定传播的透明性假设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第二节：左右认知的心理机制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完形心理学四大结构因素：类似与相近、完形趋向、残缺闭合、共同命运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这些机制先天存在，构成人类感知世界的无意识框架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冯哲误判案例印证‘类似与相近’导致认知定势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4-7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完形心理学四原则对比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类似与相近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按外观相似性或空间邻近性归类对象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如横看‘13’竖看‘B’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残缺闭合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主动补全不完整图形以达成心理完形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如将带缺口的圆自动补为完整圆形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icrosoft YaHei"/>
              </a:defRPr>
            </a:pPr>
            <a:r>
              <a:t>心理预设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个体基于生活经验形成的先验理解框架，使所有编码与译码活动均以此为前提，导致‘理解即误解’的阐释学现实。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第三节：制约理解的因素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文化背景塑造选择性注意（巴格比双筒实验）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情绪状态改变意义建构（勒巴与卢卡斯催眠实验）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态度是终极决定因素——世界观、价值观统摄全部理解过程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8-11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93B"/>
                </a:solidFill>
                <a:latin typeface="Microsoft YaHei"/>
              </a:defRPr>
            </a:pPr>
            <a:r>
              <a:t>"不能容许在剧场里凭空大喊‘着火了’的自由"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— 美国大法官霍姆斯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引出选择性定律：传播自由受制于语境、责任与经验范围，非绝对权利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第四节：人际传播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定义：两个及以上主体在共享经验范围内，通过符号互动建立的面对面关系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经验范围重叠度决定传播有效性——记者从共同话题切入采访即实践此原理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交流情景（时间/地点/氛围）构成人际传播的外在约束条件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12-14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icrosoft YaHei"/>
              </a:defRPr>
            </a:pPr>
            <a:r>
              <a:t>经验范围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传播双方因性格、环境、经历与教养形成的对现实的独特认知图式；人际传播仅能在该范围重叠区有效发生。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第五节：人际影响与媒介效应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两级传播论：信息经‘舆论领袖’中转再扩散，打破‘魔弹论’线性假设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创新扩散论：新观念/技术通过人际网络与大众媒介协同扩散，含知晓→劝服→决策→确认四阶段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15-17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两级传播 vs 创新扩散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两级传播论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核心：舆论领袖中介作用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发现于1940年总统选举研究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强调人际网络对媒介信息的再加工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02920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创新扩散论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核心：采纳者类型谱系（创新者→落后者）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提出于1971年罗杰斯著作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关注社会系统内新事物的生命周期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Chapter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Slides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alibri"/>
              </a:defRPr>
            </a:pPr>
            <a:r>
              <a:t>Key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人际传播=符号互动=编码/译码循环，本质是非对称的意义共建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认知与理解受先天结构（完形）与后天变量（文化/情绪/态度）双重制约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有效传播需主动拓展经验范围重叠、适配交流情景，并善用人际网络杠杆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18 Diagram</a:t>
            </a:r>
          </a:p>
        </p:txBody>
      </p:sp>
      <p:pic>
        <p:nvPicPr>
          <p:cNvPr id="4" name="Picture 3" descr="page_18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097280"/>
            <a:ext cx="9144000" cy="4117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1 Diagram</a:t>
            </a:r>
          </a:p>
        </p:txBody>
      </p:sp>
      <p:pic>
        <p:nvPicPr>
          <p:cNvPr id="4" name="Picture 3" descr="page_1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097280"/>
            <a:ext cx="9144000" cy="1740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1 Img 2</a:t>
            </a:r>
          </a:p>
        </p:txBody>
      </p:sp>
      <p:pic>
        <p:nvPicPr>
          <p:cNvPr id="4" name="Picture 3" descr="page_1_img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784" y="1097280"/>
            <a:ext cx="576412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20 Diagram</a:t>
            </a:r>
          </a:p>
        </p:txBody>
      </p:sp>
      <p:pic>
        <p:nvPicPr>
          <p:cNvPr id="4" name="Picture 3" descr="page_20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925" y="1097280"/>
            <a:ext cx="4687844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21 Diagram</a:t>
            </a:r>
          </a:p>
        </p:txBody>
      </p:sp>
      <p:pic>
        <p:nvPicPr>
          <p:cNvPr id="4" name="Picture 3" descr="page_21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947" y="1097280"/>
            <a:ext cx="71678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2 Diagram</a:t>
            </a:r>
          </a:p>
        </p:txBody>
      </p:sp>
      <p:pic>
        <p:nvPicPr>
          <p:cNvPr id="4" name="Picture 3" descr="page_2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721" y="1097280"/>
            <a:ext cx="878825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