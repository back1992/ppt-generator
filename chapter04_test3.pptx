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Chapter 4: Interpersonal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My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0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编码与译码：人际传播的信息基础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认知机制：影响编码/译码的四大完形心理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理解制约：心理预设、文化背景与态度等五大因素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人际传播的本质：符号互动与经验范围重叠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人际影响理论：两级传播论与创新扩散论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第一节：编码与译码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编码（encode）：将信息转化为可传输符号的心理过程；译码（decode）：将符号还原为意义的主观重构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施拉姆模式承袭香农信息论，凸显传播中‘主观转化’而非‘机械传递’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编码与译码均非保真搬运——信息在转化中必然变形、增殖或扭曲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符号互动（Symbolic Interaction)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人际传播的核心特征，指参与者通过共享符号（语言、姿态、表情等）持续进行意义协商与关系建构的动态过程；其本质是周而复始的编码—译码循环。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"信息一旦经过编码便同原来的情形不完全相同……运来一件集装箱，卸下车后可能成为两件，原来装运的钢材甚至可能成为大米、棉花等。"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《传播学引论》（第四版）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阐明编码/译码的不可逆主观性，否定传播的‘透明容器’隐喻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第二节：左右认知的心理机制（完形心理学）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类似与相近：依相似性/空间邻近性自动归类（如‘13’与‘B’的视觉歧义）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完形趋向：本能追求结构完整，排斥破坏统一性的元素（如‘情人眼里出西施’）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残缺闭合：主动补全不完整图形，导致认知偏差（如将‘九全九美’单位视为‘十全十美’）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共同命运：将具动态一致性的事物感知为整体（如横排符号优先于竖排）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4-7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感知 vs. 理解：认知活动的两个层级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感知（Perception）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受先天‘结构因素’支配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完形心理学四大法则主导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前意识、自动化过程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理解（Interpretation）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依赖后天经验与主观框架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受心理预设、文化背景、情绪、态度等调节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• 主动、创造性意义建构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心理预设（Mental Set）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个体基于既有生活经验形成的、对事物理解的先在期待与解释框架；它使理解无法‘就事论事’，而是以预设为前提的阐释行为——现代阐释学因此主张‘理解即误解’。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第三节：制约理解的五大因素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心理预设：理解的起点与滤镜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文化背景：巴格比实验证明跨文化视像选择偏好差异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动机：目标导向影响信息提取方向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情绪：勒巴与卢卡斯实验证实同一场景因情绪状态产生截然不同描述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态度：世界观/价值观的根本性统摄作用（如周敦颐《爱莲说》三类人观花之异）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8-12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"不能容许在剧场里凭空大喊‘着火了’的自由"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— 美国大法官霍尔姆斯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引申说明‘选择性定律’的实践边界：传播自由内嵌责任约束，信息选择本身即价值判断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第四节：人际传播的本质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定义：面对面、以符号为中介的对话性关系建构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核心条件：双方经验范围需存在足够重叠区域（共享知识、语境、价值观）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外在支撑：特定交流情景（时间、地点、社会角色）构成传播发生场域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实效原则：高明传播者从共同兴趣切入，扩大经验重叠带以保障‘传而能通’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13-15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经验范围（Range of Experience）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个体因性格、环境、经历与教养形成的独特认知图式；人际传播有效性取决于双方经验范围的重叠程度——重叠越大，符号解读越趋一致，传播越顺畅。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第五节：人际影响理论（一）两级传播论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核心概念：舆论领袖（Opinion Leaders）作为媒介信息与大众之间的关键中介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发现来源：拉扎斯菲尔德1940年总统大选研究，揭示‘媒介→舆论领袖→大众’的二级流动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理论价值：打破‘魔弹论’幻觉，确立人际网络在意见形成中的枢纽地位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16-17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第五节：人际影响理论（二）创新扩散论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63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核心过程：新观念/技术/风尚经由人际网络与媒介网络协同实现社会系统内扩散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关键变量：采纳者五类划分（创新者、早期采用者、早期多数、晚期多数、落后者）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7315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Microsoft YaHei"/>
              </a:defRPr>
            </a:pPr>
            <a:r>
              <a:t>罗杰斯模型：强调传播渠道（人际＞大众）与社会系统（规范、结构）对扩散速率的决定性影响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pp. 18-19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Chapter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2860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人际传播即符号互动，其动力学本质是编码与译码的辩证循环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所有传播都受制于双重主观性：感知层的完形心理与理解层的社会心理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有效人际传播需同时满足内在条件（经验范围重叠）与外在条件（适配交流情景）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Microsoft YaHei"/>
              </a:defRPr>
            </a:pPr>
            <a:r>
              <a:t>▸ 两级传播论与创新扩散论揭示人际网络如何重塑媒介影响力，构成现代信息生态的底层逻辑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18 Diagram</a:t>
            </a:r>
          </a:p>
        </p:txBody>
      </p:sp>
      <p:pic>
        <p:nvPicPr>
          <p:cNvPr id="4" name="Picture 3" descr="page_18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4117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Diagram</a:t>
            </a:r>
          </a:p>
        </p:txBody>
      </p:sp>
      <p:pic>
        <p:nvPicPr>
          <p:cNvPr id="4" name="Picture 3" descr="page_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097280"/>
            <a:ext cx="9144000" cy="1740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1 Img 2</a:t>
            </a:r>
          </a:p>
        </p:txBody>
      </p:sp>
      <p:pic>
        <p:nvPicPr>
          <p:cNvPr id="4" name="Picture 3" descr="page_1_img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784" y="1097280"/>
            <a:ext cx="576412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20 Diagram</a:t>
            </a:r>
          </a:p>
        </p:txBody>
      </p:sp>
      <p:pic>
        <p:nvPicPr>
          <p:cNvPr id="4" name="Picture 3" descr="page_2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25" y="1097280"/>
            <a:ext cx="468784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21 Diagram</a:t>
            </a:r>
          </a:p>
        </p:txBody>
      </p:sp>
      <p:pic>
        <p:nvPicPr>
          <p:cNvPr id="4" name="Picture 3" descr="page_2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47" y="1097280"/>
            <a:ext cx="7167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Page 2 Diagram</a:t>
            </a:r>
          </a:p>
        </p:txBody>
      </p:sp>
      <p:pic>
        <p:nvPicPr>
          <p:cNvPr id="4" name="Picture 3" descr="page_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21" y="1097280"/>
            <a:ext cx="878825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From: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