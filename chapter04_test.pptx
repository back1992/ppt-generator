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64592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Chapter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Chapter 4: 人际传播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720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Calibri"/>
              </a:defRPr>
            </a:pPr>
            <a:r>
              <a:t>My Book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0 pages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Calibri"/>
              </a:defRPr>
            </a:pPr>
            <a:r>
              <a:t>Outline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411480" cy="4114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4173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E293B"/>
                </a:solidFill>
                <a:latin typeface="Microsoft YaHei"/>
              </a:defRPr>
            </a:pPr>
            <a:r>
              <a:t>编码与译码：符号互动的认知基础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20240"/>
            <a:ext cx="411480" cy="4114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9659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E293B"/>
                </a:solidFill>
                <a:latin typeface="Microsoft YaHei"/>
              </a:defRPr>
            </a:pPr>
            <a:r>
              <a:t>感知与理解的心理机制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468880"/>
            <a:ext cx="411480" cy="4114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51460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5146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E293B"/>
                </a:solidFill>
                <a:latin typeface="Microsoft YaHei"/>
              </a:defRPr>
            </a:pPr>
            <a:r>
              <a:t>经验范围与交流情景：人际传播的前提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017520"/>
            <a:ext cx="411480" cy="4114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06324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063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E293B"/>
                </a:solidFill>
                <a:latin typeface="Microsoft YaHei"/>
              </a:defRPr>
            </a:pPr>
            <a:r>
              <a:t>两级传播论与创新扩散论：人际影响的宏观模型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Microsoft YaHei"/>
              </a:defRPr>
            </a:pPr>
            <a:r>
              <a:t>第一节：编码与译码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7315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508760"/>
            <a:ext cx="73152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463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Microsoft YaHei"/>
              </a:defRPr>
            </a:pPr>
            <a:r>
              <a:t>编码是传播者将意义转化为符号的过程；译码是受传者从符号中重构意义的过程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40280"/>
            <a:ext cx="10698480" cy="7315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2377440"/>
            <a:ext cx="73152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3317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Microsoft YaHei"/>
              </a:defRPr>
            </a:pPr>
            <a:r>
              <a:t>二者并非机械对应，而是受主观认知深度介入的创造性活动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108960"/>
            <a:ext cx="10698480" cy="7315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3246120"/>
            <a:ext cx="73152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2004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Microsoft YaHei"/>
              </a:defRPr>
            </a:pPr>
            <a:r>
              <a:t>施拉姆模式对香农信息论的挪用凸显其在传播学中的核心地位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6400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pp. 1-3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59669"/>
                </a:solidFill>
                <a:latin typeface="Calibri"/>
              </a:defRPr>
            </a:pPr>
            <a:r>
              <a:t>Key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Calibri"/>
              </a:defRPr>
            </a:pPr>
            <a:r>
              <a:t>编码（Encode）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10698480" cy="228600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5603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E293B"/>
                </a:solidFill>
                <a:latin typeface="Microsoft YaHei"/>
              </a:defRPr>
            </a:pPr>
            <a:r>
              <a:t>将思想、情感或信息转化为可传输符号（如语言、图像、手势）的主观心理过程，内含选择、组织与意义赋予。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59669"/>
                </a:solidFill>
                <a:latin typeface="Calibri"/>
              </a:defRPr>
            </a:pPr>
            <a:r>
              <a:t>Key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Calibri"/>
              </a:defRPr>
            </a:pPr>
            <a:r>
              <a:t>译码（Decode）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10698480" cy="228600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5603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E293B"/>
                </a:solidFill>
                <a:latin typeface="Microsoft YaHei"/>
              </a:defRPr>
            </a:pPr>
            <a:r>
              <a:t>接收者依据自身经验与认知框架，对符号进行解释、重构并赋予意义的主动理解过程，必然伴随信息变形与意义增殖。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371600"/>
            <a:ext cx="73152" cy="4114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601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1E293B"/>
                </a:solidFill>
                <a:latin typeface="Microsoft YaHei"/>
              </a:defRPr>
            </a:pPr>
            <a:r>
              <a:t>"信息一旦经过编码便同原来的情形不完全相同……运来一件集装箱，卸下车后可能成为两件，原来装运的钢材甚至可能成为大米、棉花等。"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029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Microsoft YaHei"/>
              </a:defRPr>
            </a:pPr>
            <a:r>
              <a:t>— 《传播学引论》（第四版）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6692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揭示编码/译码非保真性本质，否定传播即‘运输’的机械隐喻。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Microsoft YaHei"/>
              </a:defRPr>
            </a:pPr>
            <a:r>
              <a:t>第二节：左右认知的心理机制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7315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508760"/>
            <a:ext cx="73152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463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Microsoft YaHei"/>
              </a:defRPr>
            </a:pPr>
            <a:r>
              <a:t>完形心理学四大结构因素：类似与相近、完形趋向、残缺闭合、共同命运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40280"/>
            <a:ext cx="10698480" cy="7315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2377440"/>
            <a:ext cx="73152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3317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Microsoft YaHei"/>
              </a:defRPr>
            </a:pPr>
            <a:r>
              <a:t>所有感知均受先天认知框架引导，而非被动反映现实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108960"/>
            <a:ext cx="10698480" cy="7315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3246120"/>
            <a:ext cx="73152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2004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Microsoft YaHei"/>
              </a:defRPr>
            </a:pPr>
            <a:r>
              <a:t>‘鸭子测试’与冯哲误判案例印证类似与相近的强支配力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6400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pp. 4-7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Microsoft YaHei"/>
              </a:defRPr>
            </a:pPr>
            <a:r>
              <a:t>完形趋向 vs. 残缺闭合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02920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完形趋向（Good Form）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Microsoft YaHei"/>
              </a:defRPr>
            </a:pPr>
            <a:r>
              <a:t>• 追求整齐划一、完整统一的知觉倾向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Microsoft YaHei"/>
              </a:defRPr>
            </a:pPr>
            <a:r>
              <a:t>• 排斥破坏整体性的异质元素（如12小圆+1大圆）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371600"/>
            <a:ext cx="5029200" cy="45720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417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残缺闭合（Closure）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01168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Microsoft YaHei"/>
              </a:defRPr>
            </a:pPr>
            <a:r>
              <a:t>• 自动补全视觉/认知缺口以达成完形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7432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Microsoft YaHei"/>
              </a:defRPr>
            </a:pPr>
            <a:r>
              <a:t>• 导致‘九全九美→十全十美’的过度理想化判断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Microsoft YaHei"/>
              </a:defRPr>
            </a:pPr>
            <a:r>
              <a:t>第三节：制约理解的主观因素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7315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508760"/>
            <a:ext cx="73152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463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Microsoft YaHei"/>
              </a:defRPr>
            </a:pPr>
            <a:r>
              <a:t>心理预设：理解总以既有经验为前提，‘理解即误解’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40280"/>
            <a:ext cx="10698480" cy="7315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2377440"/>
            <a:ext cx="73152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3317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Microsoft YaHei"/>
              </a:defRPr>
            </a:pPr>
            <a:r>
              <a:t>文化背景：巴格比双筒实验证实文化滤镜主导注意与解释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108960"/>
            <a:ext cx="10698480" cy="7315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3246120"/>
            <a:ext cx="73152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2004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Microsoft YaHei"/>
              </a:defRPr>
            </a:pPr>
            <a:r>
              <a:t>情绪与态度：同一画面因情绪状态不同而被解读为休闲/失礼/危机；态度是终极解释框架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6400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pp. 8-12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59669"/>
                </a:solidFill>
                <a:latin typeface="Calibri"/>
              </a:defRPr>
            </a:pPr>
            <a:r>
              <a:t>Key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Microsoft YaHei"/>
              </a:defRPr>
            </a:pPr>
            <a:r>
              <a:t>心理预设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10698480" cy="228600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5603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E293B"/>
                </a:solidFill>
                <a:latin typeface="Microsoft YaHei"/>
              </a:defRPr>
            </a:pPr>
            <a:r>
              <a:t>个体基于生活经验、文化习得与价值立场，在理解前已内化的解释框架，决定哪些信息被注意、如何被组织、赋予何种意义。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371600"/>
            <a:ext cx="73152" cy="4114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601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1E293B"/>
                </a:solidFill>
                <a:latin typeface="Microsoft YaHei"/>
              </a:defRPr>
            </a:pPr>
            <a:r>
              <a:t>"不能容许在剧场里凭空大喊‘着火了’的自由——这说明传播从来不是绝对自由，而是受制于选择性定律。"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029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Microsoft YaHei"/>
              </a:defRPr>
            </a:pPr>
            <a:r>
              <a:t>— 美国大法官霍姆斯（转引自原文）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6692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引出选择性传播规律：信息接收、注意、理解与记忆均存在系统性过滤。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Microsoft YaHei"/>
              </a:defRPr>
            </a:pPr>
            <a:r>
              <a:t>第四节：人际传播的本质与条件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7315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508760"/>
            <a:ext cx="73152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463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Microsoft YaHei"/>
              </a:defRPr>
            </a:pPr>
            <a:r>
              <a:t>人际传播=面对面的符号互动关系，核心是经由符号建构对话性关系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40280"/>
            <a:ext cx="10698480" cy="7315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2377440"/>
            <a:ext cx="73152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3317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Microsoft YaHei"/>
              </a:defRPr>
            </a:pPr>
            <a:r>
              <a:t>必要条件一：共享经验范围——重叠区域越大，传播越通畅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108960"/>
            <a:ext cx="10698480" cy="7315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3246120"/>
            <a:ext cx="73152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2004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Microsoft YaHei"/>
              </a:defRPr>
            </a:pPr>
            <a:r>
              <a:t>必要条件二：适配交流情景——时间、地点、社会角色构成意义生成的语境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6400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pp. 13-15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Microsoft YaHei"/>
              </a:defRPr>
            </a:pPr>
            <a:r>
              <a:t>第五节：人际影响的宏观模型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7315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508760"/>
            <a:ext cx="73152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463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Microsoft YaHei"/>
              </a:defRPr>
            </a:pPr>
            <a:r>
              <a:t>两级传播论：信息经‘媒介→舆论领袖→大众’两级流动，打破‘魔弹论’幻象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40280"/>
            <a:ext cx="10698480" cy="7315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2377440"/>
            <a:ext cx="73152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3317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Microsoft YaHei"/>
              </a:defRPr>
            </a:pPr>
            <a:r>
              <a:t>创新扩散论：新事物通过人际网络与大众媒介协同扩散，经历知晓→劝服→决策→实施→确认五阶段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108960"/>
            <a:ext cx="10698480" cy="7315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3246120"/>
            <a:ext cx="73152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2004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Microsoft YaHei"/>
              </a:defRPr>
            </a:pPr>
            <a:r>
              <a:t>二者共同揭示人际传播作为‘意义中介’与‘信任放大器’的社会功能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6400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pp. 16-19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Chapter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228600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3B82F6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17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Pages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2103120"/>
            <a:ext cx="228600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22860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3B82F6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3017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Sections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2103120"/>
            <a:ext cx="228600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22860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3B82F6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3017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Slides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0" y="2103120"/>
            <a:ext cx="228600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0" y="22860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3B82F6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3017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Images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931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4A3B8"/>
                </a:solidFill>
                <a:latin typeface="Calibri"/>
              </a:defRPr>
            </a:pPr>
            <a:r>
              <a:t>Key Sections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3891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Microsoft YaHei"/>
              </a:defRPr>
            </a:pPr>
            <a:r>
              <a:t>▸ 人际传播的本质是动态、非对称、充满主观介入的符号互动过程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7548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Microsoft YaHei"/>
              </a:defRPr>
            </a:pPr>
            <a:r>
              <a:t>▸ 编码/译码受感知结构（完形）与理解框架（预设/文化/情绪/态度）双重制约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1206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Microsoft YaHei"/>
              </a:defRPr>
            </a:pPr>
            <a:r>
              <a:t>▸ 有效人际传播需主动拓展经验范围重叠、适配交流情景，并理解其在社会网络中的放大效应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Calibri"/>
              </a:defRPr>
            </a:pPr>
            <a:r>
              <a:t>page_18_diagram</a:t>
            </a:r>
          </a:p>
        </p:txBody>
      </p:sp>
      <p:pic>
        <p:nvPicPr>
          <p:cNvPr id="4" name="Picture 3" descr="page_18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1097280"/>
            <a:ext cx="9144000" cy="411747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2179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From: Chapter 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Calibri"/>
              </a:defRPr>
            </a:pPr>
            <a:r>
              <a:t>page_1_diagram</a:t>
            </a:r>
          </a:p>
        </p:txBody>
      </p:sp>
      <p:pic>
        <p:nvPicPr>
          <p:cNvPr id="4" name="Picture 3" descr="page_1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1097280"/>
            <a:ext cx="9144000" cy="17400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2179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From: Chapter 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Calibri"/>
              </a:defRPr>
            </a:pPr>
            <a:r>
              <a:t>Page 1, Figure 2</a:t>
            </a:r>
          </a:p>
        </p:txBody>
      </p:sp>
      <p:pic>
        <p:nvPicPr>
          <p:cNvPr id="4" name="Picture 3" descr="page_1_img_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3784" y="1097280"/>
            <a:ext cx="5764126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2179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From: Chapter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