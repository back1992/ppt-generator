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Chapter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Chapter 4: 人际传播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My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0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编码与译码：信息传递的认知基础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感知与理解的心理机制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14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人际传播的本质与条件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63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人际影响与媒介效应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第一节：编码与译码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编码是传播者将意义转化为符号的过程；译码是受传者将符号还原为意义的过程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二者均非机械转换，而是受主观认知干预的创造性活动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施拉姆模式对香农信息论的挪用凸显其核心地位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编码（Encode）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传播者在大脑中将思想、情感或信息转化为可传输符号（语言、图像、姿态等）的主观认知过程。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译码（Decode）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受传者在大脑中依据自身经验与框架，对传入符号进行解释并重构意义的主动理解过程。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"信息一旦经过编码便同原来的情形不完全相同……经过译码后信息也不可能保持原样不变。"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— 《传播学引论》（第四版）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强调编码/译码的变形性与传播失真不可避免性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第二节：左右认知的心理机制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完形心理学四大结构因素：类似与相近、完形趋向、残缺闭合、共同命运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感知并非被动接收，而是被先天心理框架主动组织与筛选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‘看似寻常却奇崛’——日常交谈背后存在深层认知惯性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4-7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完形心理学四大结构因素对比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类似与相近 &amp; 共同命运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基于相似性或同步性归类对象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驱动分类与群体识别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完形趋向 &amp; 残缺闭合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追求整体性、完整性与秩序感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主动补全缺失、排斥干扰以构建‘完形’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第三节：制约理解的主观因素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心理预设：先入为主的解释框架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文化背景：塑造意义解读的深层滤镜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情绪、态度：决定信息接收立场与深度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8-11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Microsoft YaHei"/>
              </a:defRPr>
            </a:pPr>
            <a:r>
              <a:t>心理预设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个体基于生活经验形成的、对事物预期性解释的内在认知模板，构成理解活动的默认前提。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"理解不是机械的、刻板的反映……而是一种积极的、带有创造性的活动。"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— 《传播学引论》（第四版）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阐明理解的建构性本质，区别于客观镜像式反映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第四节：人际传播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本质是经由符号互动建立的关系性实践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依赖共享经验范围（重叠区域越大，传播越通畅）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受制于交流情景（时间、地点、社会语境）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12-14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人际传播（Interpersonal Communication）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两个或以上个体通过面对面符号互动（语言、副语言、体态等）建立并维系关系的动态过程，核心在于对话性与关系性。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第五节：人际影响与媒介效应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两级传播论：信息经舆论领袖再扩散，打破‘魔弹论’幻象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创新扩散论：新观念/技术通过人际网络与大众媒介协同扩散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二者共同揭示传播的社会嵌入性与层级性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15-18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两级传播论 vs 创新扩散论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两级传播论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聚焦政治传播场景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强调意见领袖中介作用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线性两阶段模型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029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创新扩散论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关注社会系统内新事物采纳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划分五类采纳者（创新者至落后者）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S型扩散曲线+人际+媒介双通道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Chapter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Slides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Key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人际传播即符号互动，其效能取决于编码/译码质量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感知与理解受完形机制与主观因素系统性制约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有效人际传播需经验范围重叠与适宜交流情景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86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人际网络与媒介网络协同塑造现代信息生态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"两个人（或两个以上的人）由于一些他们共同感兴趣的信息符号聚集在一起，就叫人际传播。"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— 威尔伯·施拉姆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定义性表述，点明人际传播的关系生成本质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核心启示：传播即建构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信息从不‘透明’传输，始终在认知框架中被重构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所谓‘误解’实为理解的常态而非偏差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提升传播素养=增强对自身编码/译码机制的元认知能力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1-18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Chapter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Slides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Key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编码 / 译码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完形结构因素（4类）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心理预设 &amp; 文化背景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86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经验范围 &amp; 交流情景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52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两级传播 &amp; 创新扩散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Chapter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思考与延伸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icrosoft YaHei"/>
              </a:defRPr>
            </a:pPr>
            <a:r>
              <a:t>如何在数字交往中重建‘重叠经验范围’？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0 pages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18 Diagram</a:t>
            </a:r>
          </a:p>
        </p:txBody>
      </p:sp>
      <p:pic>
        <p:nvPicPr>
          <p:cNvPr id="4" name="Picture 3" descr="page_18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097280"/>
            <a:ext cx="9144000" cy="4117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1 Diagram</a:t>
            </a:r>
          </a:p>
        </p:txBody>
      </p:sp>
      <p:pic>
        <p:nvPicPr>
          <p:cNvPr id="4" name="Picture 3" descr="page_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097280"/>
            <a:ext cx="9144000" cy="1740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1 Img 2</a:t>
            </a:r>
          </a:p>
        </p:txBody>
      </p:sp>
      <p:pic>
        <p:nvPicPr>
          <p:cNvPr id="4" name="Picture 3" descr="page_1_img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784" y="1097280"/>
            <a:ext cx="576412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20 Diagram</a:t>
            </a:r>
          </a:p>
        </p:txBody>
      </p:sp>
      <p:pic>
        <p:nvPicPr>
          <p:cNvPr id="4" name="Picture 3" descr="page_20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925" y="1097280"/>
            <a:ext cx="468784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21 Diagram</a:t>
            </a:r>
          </a:p>
        </p:txBody>
      </p:sp>
      <p:pic>
        <p:nvPicPr>
          <p:cNvPr id="4" name="Picture 3" descr="page_2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947" y="1097280"/>
            <a:ext cx="71678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2 Diagram</a:t>
            </a:r>
          </a:p>
        </p:txBody>
      </p:sp>
      <p:pic>
        <p:nvPicPr>
          <p:cNvPr id="4" name="Picture 3" descr="page_2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21" y="1097280"/>
            <a:ext cx="878825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